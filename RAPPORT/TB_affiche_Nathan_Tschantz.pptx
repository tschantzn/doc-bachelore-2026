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6" r:id="rId5"/>
  </p:sldIdLst>
  <p:sldSz cx="10691813" cy="151193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32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47"/>
    <p:restoredTop sz="94720"/>
  </p:normalViewPr>
  <p:slideViewPr>
    <p:cSldViewPr snapToGrid="0">
      <p:cViewPr>
        <p:scale>
          <a:sx n="125" d="100"/>
          <a:sy n="125" d="100"/>
        </p:scale>
        <p:origin x="2556" y="-53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A9F4A2-E97A-F248-AE61-52986AC63982}" type="datetimeFigureOut">
              <a:rPr lang="fr-CH" smtClean="0"/>
              <a:t>20.07.2026</a:t>
            </a:fld>
            <a:endParaRPr lang="fr-CH"/>
          </a:p>
        </p:txBody>
      </p:sp>
      <p:sp>
        <p:nvSpPr>
          <p:cNvPr id="4" name="Espace réservé de l'image des diapositives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30AC5-E626-804F-97D0-453F8A497CE6}" type="slidenum">
              <a:rPr lang="fr-CH" smtClean="0"/>
              <a:t>‹N°›</a:t>
            </a:fld>
            <a:endParaRPr lang="fr-CH"/>
          </a:p>
        </p:txBody>
      </p:sp>
    </p:spTree>
    <p:extLst>
      <p:ext uri="{BB962C8B-B14F-4D97-AF65-F5344CB8AC3E}">
        <p14:creationId xmlns:p14="http://schemas.microsoft.com/office/powerpoint/2010/main" val="2220682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8FC30AC5-E626-804F-97D0-453F8A497CE6}" type="slidenum">
              <a:rPr lang="fr-CH" smtClean="0"/>
              <a:t>1</a:t>
            </a:fld>
            <a:endParaRPr lang="fr-CH"/>
          </a:p>
        </p:txBody>
      </p:sp>
    </p:spTree>
    <p:extLst>
      <p:ext uri="{BB962C8B-B14F-4D97-AF65-F5344CB8AC3E}">
        <p14:creationId xmlns:p14="http://schemas.microsoft.com/office/powerpoint/2010/main" val="470733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474395"/>
            <a:ext cx="9088041" cy="5263774"/>
          </a:xfrm>
        </p:spPr>
        <p:txBody>
          <a:bodyPr anchor="b"/>
          <a:lstStyle>
            <a:lvl1pPr algn="ctr">
              <a:defRPr sz="7016"/>
            </a:lvl1pPr>
          </a:lstStyle>
          <a:p>
            <a:r>
              <a:rPr lang="fr-FR"/>
              <a:t>Modifiez le style du titre</a:t>
            </a:r>
            <a:endParaRPr lang="en-US" dirty="0"/>
          </a:p>
        </p:txBody>
      </p:sp>
      <p:sp>
        <p:nvSpPr>
          <p:cNvPr id="3" name="Subtitle 2"/>
          <p:cNvSpPr>
            <a:spLocks noGrp="1"/>
          </p:cNvSpPr>
          <p:nvPr>
            <p:ph type="subTitle" idx="1"/>
          </p:nvPr>
        </p:nvSpPr>
        <p:spPr>
          <a:xfrm>
            <a:off x="1336477" y="7941160"/>
            <a:ext cx="8018860" cy="3650342"/>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20.07.2026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317513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20.07.2026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3176512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3769342"/>
            <a:ext cx="9221689" cy="6289229"/>
          </a:xfrm>
        </p:spPr>
        <p:txBody>
          <a:bodyPr anchor="b"/>
          <a:lstStyle>
            <a:lvl1pPr>
              <a:defRPr sz="7016"/>
            </a:lvl1pPr>
          </a:lstStyle>
          <a:p>
            <a:r>
              <a:rPr lang="fr-FR"/>
              <a:t>Modifiez le style du titre</a:t>
            </a:r>
            <a:endParaRPr lang="en-US" dirty="0"/>
          </a:p>
        </p:txBody>
      </p:sp>
      <p:sp>
        <p:nvSpPr>
          <p:cNvPr id="3" name="Text Placeholder 2"/>
          <p:cNvSpPr>
            <a:spLocks noGrp="1"/>
          </p:cNvSpPr>
          <p:nvPr>
            <p:ph type="body" idx="1"/>
          </p:nvPr>
        </p:nvSpPr>
        <p:spPr>
          <a:xfrm>
            <a:off x="729494" y="10118069"/>
            <a:ext cx="9221689" cy="3307357"/>
          </a:xfrm>
        </p:spPr>
        <p:txBody>
          <a:bodyPr/>
          <a:lstStyle>
            <a:lvl1pPr marL="0" indent="0">
              <a:buNone/>
              <a:defRPr sz="2806">
                <a:solidFill>
                  <a:schemeClr val="tx1">
                    <a:tint val="82000"/>
                  </a:schemeClr>
                </a:solidFill>
              </a:defRPr>
            </a:lvl1pPr>
            <a:lvl2pPr marL="534604" indent="0">
              <a:buNone/>
              <a:defRPr sz="2339">
                <a:solidFill>
                  <a:schemeClr val="tx1">
                    <a:tint val="82000"/>
                  </a:schemeClr>
                </a:solidFill>
              </a:defRPr>
            </a:lvl2pPr>
            <a:lvl3pPr marL="1069208" indent="0">
              <a:buNone/>
              <a:defRPr sz="2105">
                <a:solidFill>
                  <a:schemeClr val="tx1">
                    <a:tint val="82000"/>
                  </a:schemeClr>
                </a:solidFill>
              </a:defRPr>
            </a:lvl3pPr>
            <a:lvl4pPr marL="1603812" indent="0">
              <a:buNone/>
              <a:defRPr sz="1871">
                <a:solidFill>
                  <a:schemeClr val="tx1">
                    <a:tint val="82000"/>
                  </a:schemeClr>
                </a:solidFill>
              </a:defRPr>
            </a:lvl4pPr>
            <a:lvl5pPr marL="2138416" indent="0">
              <a:buNone/>
              <a:defRPr sz="1871">
                <a:solidFill>
                  <a:schemeClr val="tx1">
                    <a:tint val="82000"/>
                  </a:schemeClr>
                </a:solidFill>
              </a:defRPr>
            </a:lvl5pPr>
            <a:lvl6pPr marL="2673020" indent="0">
              <a:buNone/>
              <a:defRPr sz="1871">
                <a:solidFill>
                  <a:schemeClr val="tx1">
                    <a:tint val="82000"/>
                  </a:schemeClr>
                </a:solidFill>
              </a:defRPr>
            </a:lvl6pPr>
            <a:lvl7pPr marL="3207624" indent="0">
              <a:buNone/>
              <a:defRPr sz="1871">
                <a:solidFill>
                  <a:schemeClr val="tx1">
                    <a:tint val="82000"/>
                  </a:schemeClr>
                </a:solidFill>
              </a:defRPr>
            </a:lvl7pPr>
            <a:lvl8pPr marL="3742228" indent="0">
              <a:buNone/>
              <a:defRPr sz="1871">
                <a:solidFill>
                  <a:schemeClr val="tx1">
                    <a:tint val="82000"/>
                  </a:schemeClr>
                </a:solidFill>
              </a:defRPr>
            </a:lvl8pPr>
            <a:lvl9pPr marL="4276832" indent="0">
              <a:buNone/>
              <a:defRPr sz="1871">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F500F00-1D35-254B-9117-3FE363B8C978}" type="datetimeFigureOut">
              <a:rPr lang="fr-CH" smtClean="0"/>
              <a:t>20.07.2026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428399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4024827"/>
            <a:ext cx="4544021" cy="95930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4024827"/>
            <a:ext cx="4544021" cy="95930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F500F00-1D35-254B-9117-3FE363B8C978}" type="datetimeFigureOut">
              <a:rPr lang="fr-CH" smtClean="0"/>
              <a:t>20.07.2026</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4131462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804969"/>
            <a:ext cx="9221689" cy="2922375"/>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3706342"/>
            <a:ext cx="4523137"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fr-FR"/>
              <a:t>Cliquez pour modifier les styles du texte du masque</a:t>
            </a:r>
          </a:p>
        </p:txBody>
      </p:sp>
      <p:sp>
        <p:nvSpPr>
          <p:cNvPr id="4" name="Content Placeholder 3"/>
          <p:cNvSpPr>
            <a:spLocks noGrp="1"/>
          </p:cNvSpPr>
          <p:nvPr>
            <p:ph sz="half" idx="2"/>
          </p:nvPr>
        </p:nvSpPr>
        <p:spPr>
          <a:xfrm>
            <a:off x="736456" y="5522763"/>
            <a:ext cx="4523137" cy="812315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3706342"/>
            <a:ext cx="4545413"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fr-FR"/>
              <a:t>Cliquez pour modifier les styles du texte du masque</a:t>
            </a:r>
          </a:p>
        </p:txBody>
      </p:sp>
      <p:sp>
        <p:nvSpPr>
          <p:cNvPr id="6" name="Content Placeholder 5"/>
          <p:cNvSpPr>
            <a:spLocks noGrp="1"/>
          </p:cNvSpPr>
          <p:nvPr>
            <p:ph sz="quarter" idx="4"/>
          </p:nvPr>
        </p:nvSpPr>
        <p:spPr>
          <a:xfrm>
            <a:off x="5412731" y="5522763"/>
            <a:ext cx="4545413" cy="812315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F500F00-1D35-254B-9117-3FE363B8C978}" type="datetimeFigureOut">
              <a:rPr lang="fr-CH" smtClean="0"/>
              <a:t>20.07.2026</a:t>
            </a:fld>
            <a:endParaRPr lang="fr-CH"/>
          </a:p>
        </p:txBody>
      </p:sp>
      <p:sp>
        <p:nvSpPr>
          <p:cNvPr id="8" name="Footer Placeholder 7"/>
          <p:cNvSpPr>
            <a:spLocks noGrp="1"/>
          </p:cNvSpPr>
          <p:nvPr>
            <p:ph type="ftr" sz="quarter" idx="11"/>
          </p:nvPr>
        </p:nvSpPr>
        <p:spPr/>
        <p:txBody>
          <a:bodyPr/>
          <a:lstStyle/>
          <a:p>
            <a:endParaRPr lang="fr-CH"/>
          </a:p>
        </p:txBody>
      </p:sp>
      <p:sp>
        <p:nvSpPr>
          <p:cNvPr id="9" name="Slide Number Placeholder 8"/>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102310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F500F00-1D35-254B-9117-3FE363B8C978}" type="datetimeFigureOut">
              <a:rPr lang="fr-CH" smtClean="0"/>
              <a:t>20.07.2026</a:t>
            </a:fld>
            <a:endParaRPr lang="fr-CH"/>
          </a:p>
        </p:txBody>
      </p:sp>
      <p:sp>
        <p:nvSpPr>
          <p:cNvPr id="4" name="Footer Placeholder 3"/>
          <p:cNvSpPr>
            <a:spLocks noGrp="1"/>
          </p:cNvSpPr>
          <p:nvPr>
            <p:ph type="ftr" sz="quarter" idx="11"/>
          </p:nvPr>
        </p:nvSpPr>
        <p:spPr/>
        <p:txBody>
          <a:bodyPr/>
          <a:lstStyle/>
          <a:p>
            <a:endParaRPr lang="fr-CH"/>
          </a:p>
        </p:txBody>
      </p:sp>
      <p:sp>
        <p:nvSpPr>
          <p:cNvPr id="5" name="Slide Number Placeholder 4"/>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3652863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500F00-1D35-254B-9117-3FE363B8C978}" type="datetimeFigureOut">
              <a:rPr lang="fr-CH" smtClean="0"/>
              <a:t>20.07.2026</a:t>
            </a:fld>
            <a:endParaRPr lang="fr-CH"/>
          </a:p>
        </p:txBody>
      </p:sp>
      <p:sp>
        <p:nvSpPr>
          <p:cNvPr id="3" name="Footer Placeholder 2"/>
          <p:cNvSpPr>
            <a:spLocks noGrp="1"/>
          </p:cNvSpPr>
          <p:nvPr>
            <p:ph type="ftr" sz="quarter" idx="11"/>
          </p:nvPr>
        </p:nvSpPr>
        <p:spPr/>
        <p:txBody>
          <a:bodyPr/>
          <a:lstStyle/>
          <a:p>
            <a:endParaRPr lang="fr-CH"/>
          </a:p>
        </p:txBody>
      </p:sp>
      <p:sp>
        <p:nvSpPr>
          <p:cNvPr id="4" name="Slide Number Placeholder 3"/>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2119468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fr-FR"/>
              <a:t>Modifiez le style du titre</a:t>
            </a:r>
            <a:endParaRPr lang="en-US" dirty="0"/>
          </a:p>
        </p:txBody>
      </p:sp>
      <p:sp>
        <p:nvSpPr>
          <p:cNvPr id="3" name="Content Placeholder 2"/>
          <p:cNvSpPr>
            <a:spLocks noGrp="1"/>
          </p:cNvSpPr>
          <p:nvPr>
            <p:ph idx="1"/>
          </p:nvPr>
        </p:nvSpPr>
        <p:spPr>
          <a:xfrm>
            <a:off x="4545413" y="2176910"/>
            <a:ext cx="5412730" cy="10744538"/>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F500F00-1D35-254B-9117-3FE363B8C978}" type="datetimeFigureOut">
              <a:rPr lang="fr-CH" smtClean="0"/>
              <a:t>20.07.2026</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2747845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2176910"/>
            <a:ext cx="5412730" cy="10744538"/>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F500F00-1D35-254B-9117-3FE363B8C978}" type="datetimeFigureOut">
              <a:rPr lang="fr-CH" smtClean="0"/>
              <a:t>20.07.2026</a:t>
            </a:fld>
            <a:endParaRPr lang="fr-CH"/>
          </a:p>
        </p:txBody>
      </p:sp>
      <p:sp>
        <p:nvSpPr>
          <p:cNvPr id="6" name="Footer Placeholder 5"/>
          <p:cNvSpPr>
            <a:spLocks noGrp="1"/>
          </p:cNvSpPr>
          <p:nvPr>
            <p:ph type="ftr" sz="quarter" idx="11"/>
          </p:nvPr>
        </p:nvSpPr>
        <p:spPr/>
        <p:txBody>
          <a:bodyPr/>
          <a:lstStyle/>
          <a:p>
            <a:endParaRPr lang="fr-CH"/>
          </a:p>
        </p:txBody>
      </p:sp>
      <p:sp>
        <p:nvSpPr>
          <p:cNvPr id="7" name="Slide Number Placeholder 6"/>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175277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20.07.2026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1637453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804966"/>
            <a:ext cx="2305422" cy="1281295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804966"/>
            <a:ext cx="6782619" cy="128129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F500F00-1D35-254B-9117-3FE363B8C978}" type="datetimeFigureOut">
              <a:rPr lang="fr-CH" smtClean="0"/>
              <a:t>20.07.2026</a:t>
            </a:fld>
            <a:endParaRPr lang="fr-CH"/>
          </a:p>
        </p:txBody>
      </p:sp>
      <p:sp>
        <p:nvSpPr>
          <p:cNvPr id="5" name="Footer Placeholder 4"/>
          <p:cNvSpPr>
            <a:spLocks noGrp="1"/>
          </p:cNvSpPr>
          <p:nvPr>
            <p:ph type="ftr" sz="quarter" idx="11"/>
          </p:nvPr>
        </p:nvSpPr>
        <p:spPr/>
        <p:txBody>
          <a:bodyPr/>
          <a:lstStyle/>
          <a:p>
            <a:endParaRPr lang="fr-CH"/>
          </a:p>
        </p:txBody>
      </p:sp>
      <p:sp>
        <p:nvSpPr>
          <p:cNvPr id="6" name="Slide Number Placeholder 5"/>
          <p:cNvSpPr>
            <a:spLocks noGrp="1"/>
          </p:cNvSpPr>
          <p:nvPr>
            <p:ph type="sldNum" sz="quarter" idx="12"/>
          </p:nvPr>
        </p:nvSpPr>
        <p:spPr/>
        <p:txBody>
          <a:bodyPr/>
          <a:lstStyle/>
          <a:p>
            <a:fld id="{B21E756A-21A2-7C45-860C-89E44924FE31}" type="slidenum">
              <a:rPr lang="fr-CH" smtClean="0"/>
              <a:t>‹N°›</a:t>
            </a:fld>
            <a:endParaRPr lang="fr-CH"/>
          </a:p>
        </p:txBody>
      </p:sp>
    </p:spTree>
    <p:extLst>
      <p:ext uri="{BB962C8B-B14F-4D97-AF65-F5344CB8AC3E}">
        <p14:creationId xmlns:p14="http://schemas.microsoft.com/office/powerpoint/2010/main" val="3445704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804969"/>
            <a:ext cx="9221689" cy="2922375"/>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4024827"/>
            <a:ext cx="9221689" cy="959308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14013401"/>
            <a:ext cx="2405658" cy="804965"/>
          </a:xfrm>
          <a:prstGeom prst="rect">
            <a:avLst/>
          </a:prstGeom>
        </p:spPr>
        <p:txBody>
          <a:bodyPr vert="horz" lIns="91440" tIns="45720" rIns="91440" bIns="45720" rtlCol="0" anchor="ctr"/>
          <a:lstStyle>
            <a:lvl1pPr algn="l">
              <a:defRPr sz="1403">
                <a:solidFill>
                  <a:schemeClr val="tx1">
                    <a:tint val="82000"/>
                  </a:schemeClr>
                </a:solidFill>
              </a:defRPr>
            </a:lvl1pPr>
          </a:lstStyle>
          <a:p>
            <a:fld id="{4F500F00-1D35-254B-9117-3FE363B8C978}" type="datetimeFigureOut">
              <a:rPr lang="fr-CH" smtClean="0"/>
              <a:t>20.07.2026</a:t>
            </a:fld>
            <a:endParaRPr lang="fr-CH"/>
          </a:p>
        </p:txBody>
      </p:sp>
      <p:sp>
        <p:nvSpPr>
          <p:cNvPr id="5" name="Footer Placeholder 4"/>
          <p:cNvSpPr>
            <a:spLocks noGrp="1"/>
          </p:cNvSpPr>
          <p:nvPr>
            <p:ph type="ftr" sz="quarter" idx="3"/>
          </p:nvPr>
        </p:nvSpPr>
        <p:spPr>
          <a:xfrm>
            <a:off x="3541663" y="14013401"/>
            <a:ext cx="3608487" cy="804965"/>
          </a:xfrm>
          <a:prstGeom prst="rect">
            <a:avLst/>
          </a:prstGeom>
        </p:spPr>
        <p:txBody>
          <a:bodyPr vert="horz" lIns="91440" tIns="45720" rIns="91440" bIns="45720" rtlCol="0" anchor="ctr"/>
          <a:lstStyle>
            <a:lvl1pPr algn="ctr">
              <a:defRPr sz="1403">
                <a:solidFill>
                  <a:schemeClr val="tx1">
                    <a:tint val="82000"/>
                  </a:schemeClr>
                </a:solidFill>
              </a:defRPr>
            </a:lvl1pPr>
          </a:lstStyle>
          <a:p>
            <a:endParaRPr lang="fr-CH"/>
          </a:p>
        </p:txBody>
      </p:sp>
      <p:sp>
        <p:nvSpPr>
          <p:cNvPr id="6" name="Slide Number Placeholder 5"/>
          <p:cNvSpPr>
            <a:spLocks noGrp="1"/>
          </p:cNvSpPr>
          <p:nvPr>
            <p:ph type="sldNum" sz="quarter" idx="4"/>
          </p:nvPr>
        </p:nvSpPr>
        <p:spPr>
          <a:xfrm>
            <a:off x="7551093" y="14013401"/>
            <a:ext cx="2405658" cy="804965"/>
          </a:xfrm>
          <a:prstGeom prst="rect">
            <a:avLst/>
          </a:prstGeom>
        </p:spPr>
        <p:txBody>
          <a:bodyPr vert="horz" lIns="91440" tIns="45720" rIns="91440" bIns="45720" rtlCol="0" anchor="ctr"/>
          <a:lstStyle>
            <a:lvl1pPr algn="r">
              <a:defRPr sz="1403">
                <a:solidFill>
                  <a:schemeClr val="tx1">
                    <a:tint val="82000"/>
                  </a:schemeClr>
                </a:solidFill>
              </a:defRPr>
            </a:lvl1pPr>
          </a:lstStyle>
          <a:p>
            <a:fld id="{B21E756A-21A2-7C45-860C-89E44924FE31}" type="slidenum">
              <a:rPr lang="fr-CH" smtClean="0"/>
              <a:t>‹N°›</a:t>
            </a:fld>
            <a:endParaRPr lang="fr-CH"/>
          </a:p>
        </p:txBody>
      </p:sp>
    </p:spTree>
    <p:extLst>
      <p:ext uri="{BB962C8B-B14F-4D97-AF65-F5344CB8AC3E}">
        <p14:creationId xmlns:p14="http://schemas.microsoft.com/office/powerpoint/2010/main" val="4630662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69208" rtl="0" eaLnBrk="1" latinLnBrk="0" hangingPunct="1">
        <a:lnSpc>
          <a:spcPct val="90000"/>
        </a:lnSpc>
        <a:spcBef>
          <a:spcPct val="0"/>
        </a:spcBef>
        <a:buNone/>
        <a:defRPr sz="5145" kern="1200">
          <a:solidFill>
            <a:schemeClr val="tx1"/>
          </a:solidFill>
          <a:latin typeface="+mj-lt"/>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chemeClr val="tx1"/>
          </a:solidFill>
          <a:latin typeface="+mn-lt"/>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chemeClr val="tx1"/>
          </a:solidFill>
          <a:latin typeface="+mn-lt"/>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chemeClr val="tx1"/>
          </a:solidFill>
          <a:latin typeface="+mn-lt"/>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A0B852F2-88A6-6E75-FFB8-19AB74BD9C9A}"/>
              </a:ext>
            </a:extLst>
          </p:cNvPr>
          <p:cNvSpPr txBox="1"/>
          <p:nvPr/>
        </p:nvSpPr>
        <p:spPr>
          <a:xfrm>
            <a:off x="410705" y="3431733"/>
            <a:ext cx="4734732" cy="6124754"/>
          </a:xfrm>
          <a:prstGeom prst="rect">
            <a:avLst/>
          </a:prstGeom>
          <a:noFill/>
        </p:spPr>
        <p:txBody>
          <a:bodyPr wrap="square">
            <a:spAutoFit/>
          </a:bodyPr>
          <a:lstStyle/>
          <a:p>
            <a:r>
              <a:rPr lang="fr-CH" sz="1400" b="1" dirty="0">
                <a:effectLst/>
                <a:latin typeface="Arial" panose="020B0604020202020204" pitchFamily="34" charset="0"/>
                <a:cs typeface="Arial" panose="020B0604020202020204" pitchFamily="34" charset="0"/>
              </a:rPr>
              <a:t>Contexte</a:t>
            </a:r>
          </a:p>
          <a:p>
            <a:endParaRPr lang="fr-CH" sz="1400" dirty="0">
              <a:latin typeface="Arial" panose="020B0604020202020204" pitchFamily="34" charset="0"/>
              <a:cs typeface="Arial" panose="020B0604020202020204" pitchFamily="34" charset="0"/>
            </a:endParaRPr>
          </a:p>
          <a:p>
            <a:pPr algn="just"/>
            <a:r>
              <a:rPr lang="fr-CH" sz="1400" dirty="0">
                <a:latin typeface="Arial" panose="020B0604020202020204" pitchFamily="34" charset="0"/>
              </a:rPr>
              <a:t>Le pilotage de drones FPV en milieu obstrué (NLOS) se heurte à la faible pénétration des fréquences standards (2.4 et 5.8 GHz). Pour franchir les obstacles physiques, ce travail évalue la norme IEEE 802.11ah (Wi-Fi </a:t>
            </a:r>
            <a:r>
              <a:rPr lang="fr-CH" sz="1400" dirty="0" err="1">
                <a:latin typeface="Arial" panose="020B0604020202020204" pitchFamily="34" charset="0"/>
              </a:rPr>
              <a:t>HaLow</a:t>
            </a:r>
            <a:r>
              <a:rPr lang="fr-CH" sz="1400" dirty="0">
                <a:latin typeface="Arial" panose="020B0604020202020204" pitchFamily="34" charset="0"/>
              </a:rPr>
              <a:t>). Opérant sous le GHz, elle offre une portée kilométrique et une excellente pénétration à travers les structures en béton, tout en garantissant des débits de l’ordre du Mégabit par seconde adaptés au flux vidéo.</a:t>
            </a:r>
          </a:p>
          <a:p>
            <a:pPr algn="just"/>
            <a:endParaRPr lang="fr-CH" sz="1400" dirty="0">
              <a:latin typeface="Arial" panose="020B0604020202020204" pitchFamily="34" charset="0"/>
              <a:cs typeface="Arial" panose="020B0604020202020204" pitchFamily="34" charset="0"/>
            </a:endParaRPr>
          </a:p>
          <a:p>
            <a:r>
              <a:rPr lang="fr-CH" sz="1400" b="1" dirty="0">
                <a:effectLst/>
                <a:latin typeface="Arial" panose="020B0604020202020204" pitchFamily="34" charset="0"/>
                <a:cs typeface="Arial" panose="020B0604020202020204" pitchFamily="34" charset="0"/>
              </a:rPr>
              <a:t>Objectifs</a:t>
            </a:r>
            <a:br>
              <a:rPr lang="fr-CH" sz="1400" b="1" dirty="0">
                <a:effectLst/>
                <a:latin typeface="Arial" panose="020B0604020202020204" pitchFamily="34" charset="0"/>
                <a:cs typeface="Arial" panose="020B0604020202020204" pitchFamily="34" charset="0"/>
              </a:rPr>
            </a:br>
            <a:endParaRPr lang="fr-CH" sz="1400" b="1" dirty="0">
              <a:effectLst/>
              <a:latin typeface="Arial" panose="020B0604020202020204" pitchFamily="34" charset="0"/>
              <a:cs typeface="Arial" panose="020B0604020202020204" pitchFamily="34" charset="0"/>
            </a:endParaRPr>
          </a:p>
          <a:p>
            <a:pPr algn="just"/>
            <a:r>
              <a:rPr lang="fr-FR" sz="1400" dirty="0">
                <a:latin typeface="Arial" panose="020B0604020202020204" pitchFamily="34" charset="0"/>
              </a:rPr>
              <a:t>L'objectif est de concevoir et de valider un prototype de transmission vidéo numérique ultra-basse latence sur le standard Wi-Fi </a:t>
            </a:r>
            <a:r>
              <a:rPr lang="fr-FR" sz="1400" dirty="0" err="1">
                <a:latin typeface="Arial" panose="020B0604020202020204" pitchFamily="34" charset="0"/>
              </a:rPr>
              <a:t>HaLow</a:t>
            </a:r>
            <a:r>
              <a:rPr lang="fr-FR" sz="1400" dirty="0">
                <a:latin typeface="Arial" panose="020B0604020202020204" pitchFamily="34" charset="0"/>
              </a:rPr>
              <a:t>. L'enjeu réside dans le contournement des lourdes contraintes temporelles des protocoles réseau classiques. Le projet cible une optimisation de la chaîne d'acquisition avec l’implémentation d'un pipeline de compression exclusivement intra-frame (MJPEG). Le système comporte le développement d'une passerelle en C pour le découpage des images à la volée, le forçage matériel de la Qualité de Service (QoS/EDCA) au niveau de la couche MAC, l’isolation d’un cœur et l’overclocking du processeur embarqué. Le but est de stabiliser le flux sous le seuil de viabilité fixé à 80 ms pour garantir un pilotage sûr.</a:t>
            </a:r>
            <a:endParaRPr lang="fr-CH" sz="1400" dirty="0">
              <a:latin typeface="Arial" panose="020B0604020202020204" pitchFamily="34" charset="0"/>
            </a:endParaRPr>
          </a:p>
        </p:txBody>
      </p:sp>
      <p:sp>
        <p:nvSpPr>
          <p:cNvPr id="9" name="ZoneTexte 8">
            <a:extLst>
              <a:ext uri="{FF2B5EF4-FFF2-40B4-BE49-F238E27FC236}">
                <a16:creationId xmlns:a16="http://schemas.microsoft.com/office/drawing/2014/main" id="{80EEB216-1A02-71A3-5126-92CBF051A5EF}"/>
              </a:ext>
            </a:extLst>
          </p:cNvPr>
          <p:cNvSpPr txBox="1"/>
          <p:nvPr/>
        </p:nvSpPr>
        <p:spPr>
          <a:xfrm>
            <a:off x="5345906" y="3431733"/>
            <a:ext cx="4935202" cy="6124754"/>
          </a:xfrm>
          <a:prstGeom prst="rect">
            <a:avLst/>
          </a:prstGeom>
          <a:noFill/>
        </p:spPr>
        <p:txBody>
          <a:bodyPr wrap="square">
            <a:spAutoFit/>
          </a:bodyPr>
          <a:lstStyle/>
          <a:p>
            <a:r>
              <a:rPr lang="fr-CH" sz="1400" b="1" dirty="0">
                <a:effectLst/>
                <a:latin typeface="Arial" panose="020B0604020202020204" pitchFamily="34" charset="0"/>
                <a:cs typeface="Arial" panose="020B0604020202020204" pitchFamily="34" charset="0"/>
              </a:rPr>
              <a:t>Résultats</a:t>
            </a:r>
          </a:p>
          <a:p>
            <a:endParaRPr lang="fr-CH" sz="1400" dirty="0">
              <a:latin typeface="Arial" panose="020B0604020202020204" pitchFamily="34" charset="0"/>
              <a:cs typeface="Arial" panose="020B0604020202020204" pitchFamily="34" charset="0"/>
            </a:endParaRPr>
          </a:p>
          <a:p>
            <a:pPr algn="just"/>
            <a:r>
              <a:rPr lang="fr-FR" sz="1400" dirty="0">
                <a:latin typeface="Arial" panose="020B0604020202020204" pitchFamily="34" charset="0"/>
                <a:cs typeface="Arial" panose="020B0604020202020204" pitchFamily="34" charset="0"/>
              </a:rPr>
              <a:t>Le développement sur l'écosystème Raspberry Pi et STM32 a permis d'éliminer les buffers de rétention réseau en configurant la liaison en UDP Unicast (MCS 1, canal 8 MHz) et en désactivant la veille de la puce radio (PSM). Le transport matériel pur (transfert SPI, encapsulation et vol RF) s'effectue en seulement 12.5 ms. L'analyse statistique de 79 échantillons réels (capturés à 240 FPS sur un affichage à 165 Hz) démontre une stabilité remarquable du flux vidéo (320x240, 60 FPS). La latence globale moyenne est de 40.1 ms (gigue = 6.4 ms). Des pics bas sont observé a 25 ms et des Pic haut isolé de 60 ms. Lors des essais de portée dans les locaux de l'IICT, le retour vidéo est resté recevable à travers deux étages du bâtiment avec une puissance d’émission faible de 14dbm.</a:t>
            </a:r>
            <a:br>
              <a:rPr lang="fr-CH" sz="1400" dirty="0">
                <a:effectLst/>
                <a:latin typeface="Arial" panose="020B0604020202020204" pitchFamily="34" charset="0"/>
                <a:cs typeface="Arial" panose="020B0604020202020204" pitchFamily="34" charset="0"/>
              </a:rPr>
            </a:br>
            <a:endParaRPr lang="fr-CH" sz="1400" dirty="0">
              <a:effectLst/>
              <a:latin typeface="Arial" panose="020B0604020202020204" pitchFamily="34" charset="0"/>
              <a:cs typeface="Arial" panose="020B0604020202020204" pitchFamily="34" charset="0"/>
            </a:endParaRPr>
          </a:p>
          <a:p>
            <a:pPr algn="just"/>
            <a:r>
              <a:rPr lang="fr-CH" sz="1400" b="1" dirty="0">
                <a:effectLst/>
                <a:latin typeface="Arial" panose="020B0604020202020204" pitchFamily="34" charset="0"/>
                <a:cs typeface="Arial" panose="020B0604020202020204" pitchFamily="34" charset="0"/>
              </a:rPr>
              <a:t>Conclusion</a:t>
            </a:r>
          </a:p>
          <a:p>
            <a:endParaRPr lang="fr-CH" sz="1400" dirty="0">
              <a:effectLst/>
              <a:latin typeface="Arial" panose="020B0604020202020204" pitchFamily="34" charset="0"/>
              <a:cs typeface="Arial" panose="020B0604020202020204" pitchFamily="34" charset="0"/>
            </a:endParaRPr>
          </a:p>
          <a:p>
            <a:pPr algn="just"/>
            <a:r>
              <a:rPr lang="fr-FR" sz="1400" dirty="0">
                <a:latin typeface="Arial" panose="020B0604020202020204" pitchFamily="34" charset="0"/>
                <a:cs typeface="Arial" panose="020B0604020202020204" pitchFamily="34" charset="0"/>
              </a:rPr>
              <a:t>Ce travail de Bachelor valide définitivement la pertinence du standard Wi-Fi </a:t>
            </a:r>
            <a:r>
              <a:rPr lang="fr-FR" sz="1400" dirty="0" err="1">
                <a:latin typeface="Arial" panose="020B0604020202020204" pitchFamily="34" charset="0"/>
                <a:cs typeface="Arial" panose="020B0604020202020204" pitchFamily="34" charset="0"/>
              </a:rPr>
              <a:t>HaLow</a:t>
            </a:r>
            <a:r>
              <a:rPr lang="fr-FR" sz="1400" dirty="0">
                <a:latin typeface="Arial" panose="020B0604020202020204" pitchFamily="34" charset="0"/>
                <a:cs typeface="Arial" panose="020B0604020202020204" pitchFamily="34" charset="0"/>
              </a:rPr>
              <a:t> pour la transmission vidéo en temps réel. En optimisant l'intégralité de la pile logicielle, le prototype démontre qu'il est possible de combiner la robustesse physique permise par les basses fréquences avec la réactivité du FPV. En dépassant les objectifs initiaux, cette architecture ouvre de nouvelles perspectives pour l'exploration robotique et le sauvetage en milieux confinés et hautement obstrués.</a:t>
            </a:r>
            <a:endParaRPr lang="fr-CH" sz="1400" dirty="0">
              <a:effectLst/>
              <a:latin typeface="Arial" panose="020B0604020202020204" pitchFamily="34" charset="0"/>
              <a:cs typeface="Arial" panose="020B0604020202020204" pitchFamily="34" charset="0"/>
            </a:endParaRPr>
          </a:p>
        </p:txBody>
      </p:sp>
      <p:sp>
        <p:nvSpPr>
          <p:cNvPr id="17" name="ZoneTexte 16">
            <a:extLst>
              <a:ext uri="{FF2B5EF4-FFF2-40B4-BE49-F238E27FC236}">
                <a16:creationId xmlns:a16="http://schemas.microsoft.com/office/drawing/2014/main" id="{DDDAFB9F-C0A8-D814-CDBB-F3E5A99787DB}"/>
              </a:ext>
            </a:extLst>
          </p:cNvPr>
          <p:cNvSpPr txBox="1"/>
          <p:nvPr/>
        </p:nvSpPr>
        <p:spPr>
          <a:xfrm>
            <a:off x="369125" y="1678111"/>
            <a:ext cx="9698618" cy="1753622"/>
          </a:xfrm>
          <a:prstGeom prst="rect">
            <a:avLst/>
          </a:prstGeom>
          <a:noFill/>
        </p:spPr>
        <p:txBody>
          <a:bodyPr wrap="square">
            <a:spAutoFit/>
          </a:bodyPr>
          <a:lstStyle/>
          <a:p>
            <a:pPr algn="ctr">
              <a:lnSpc>
                <a:spcPts val="6700"/>
              </a:lnSpc>
            </a:pPr>
            <a:r>
              <a:rPr lang="fr-FR" sz="5400" b="1" dirty="0">
                <a:latin typeface="Arial" panose="020B0604020202020204" pitchFamily="34" charset="0"/>
                <a:cs typeface="Arial" panose="020B0604020202020204" pitchFamily="34" charset="0"/>
              </a:rPr>
              <a:t>Transmission vidéo basse latence pour drone FPV</a:t>
            </a:r>
            <a:endParaRPr lang="fr-CH" sz="5400" b="1" dirty="0">
              <a:effectLst/>
              <a:latin typeface="Arial" panose="020B0604020202020204" pitchFamily="34" charset="0"/>
              <a:cs typeface="Arial" panose="020B0604020202020204" pitchFamily="34" charset="0"/>
            </a:endParaRPr>
          </a:p>
        </p:txBody>
      </p:sp>
      <p:sp>
        <p:nvSpPr>
          <p:cNvPr id="21" name="ZoneTexte 20">
            <a:extLst>
              <a:ext uri="{FF2B5EF4-FFF2-40B4-BE49-F238E27FC236}">
                <a16:creationId xmlns:a16="http://schemas.microsoft.com/office/drawing/2014/main" id="{EED0FE0E-2307-F6CC-211E-57F3F3F0A326}"/>
              </a:ext>
            </a:extLst>
          </p:cNvPr>
          <p:cNvSpPr txBox="1"/>
          <p:nvPr/>
        </p:nvSpPr>
        <p:spPr>
          <a:xfrm>
            <a:off x="4846089" y="391651"/>
            <a:ext cx="5346914" cy="1200329"/>
          </a:xfrm>
          <a:prstGeom prst="rect">
            <a:avLst/>
          </a:prstGeom>
          <a:noFill/>
        </p:spPr>
        <p:txBody>
          <a:bodyPr wrap="square">
            <a:spAutoFit/>
          </a:bodyPr>
          <a:lstStyle/>
          <a:p>
            <a:pPr algn="r"/>
            <a:r>
              <a:rPr lang="fr-CH" sz="2400" b="1" dirty="0">
                <a:effectLst/>
                <a:latin typeface="Arial" panose="020B0604020202020204" pitchFamily="34" charset="0"/>
                <a:cs typeface="Arial" panose="020B0604020202020204" pitchFamily="34" charset="0"/>
              </a:rPr>
              <a:t>Travail de </a:t>
            </a:r>
            <a:r>
              <a:rPr lang="fr-CH" sz="2400" b="1" dirty="0" err="1">
                <a:effectLst/>
                <a:latin typeface="Arial" panose="020B0604020202020204" pitchFamily="34" charset="0"/>
                <a:cs typeface="Arial" panose="020B0604020202020204" pitchFamily="34" charset="0"/>
              </a:rPr>
              <a:t>Bachelor</a:t>
            </a:r>
            <a:r>
              <a:rPr lang="fr-CH" sz="2400" b="1" dirty="0">
                <a:effectLst/>
                <a:latin typeface="Arial" panose="020B0604020202020204" pitchFamily="34" charset="0"/>
                <a:cs typeface="Arial" panose="020B0604020202020204" pitchFamily="34" charset="0"/>
              </a:rPr>
              <a:t> 2025</a:t>
            </a:r>
          </a:p>
          <a:p>
            <a:pPr algn="r"/>
            <a:r>
              <a:rPr lang="fr-CH" sz="2400" b="1" dirty="0">
                <a:effectLst/>
                <a:latin typeface="Arial" panose="020B0604020202020204" pitchFamily="34" charset="0"/>
                <a:cs typeface="Arial" panose="020B0604020202020204" pitchFamily="34" charset="0"/>
              </a:rPr>
              <a:t>Filière ISC</a:t>
            </a:r>
            <a:endParaRPr lang="fr-CH" sz="2400" dirty="0">
              <a:effectLst/>
              <a:latin typeface="Arial" panose="020B0604020202020204" pitchFamily="34" charset="0"/>
              <a:cs typeface="Arial" panose="020B0604020202020204" pitchFamily="34" charset="0"/>
            </a:endParaRPr>
          </a:p>
          <a:p>
            <a:pPr algn="r"/>
            <a:r>
              <a:rPr lang="fr-CH" sz="2400" b="1" dirty="0">
                <a:latin typeface="Arial" panose="020B0604020202020204" pitchFamily="34" charset="0"/>
                <a:cs typeface="Arial" panose="020B0604020202020204" pitchFamily="34" charset="0"/>
              </a:rPr>
              <a:t>Orientation ISCE </a:t>
            </a:r>
            <a:endParaRPr lang="fr-CH" sz="2400" dirty="0">
              <a:effectLst/>
              <a:latin typeface="Arial" panose="020B060402020202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4E6E7A1E-F358-1E55-B8BC-824286200B32}"/>
              </a:ext>
            </a:extLst>
          </p:cNvPr>
          <p:cNvSpPr txBox="1"/>
          <p:nvPr/>
        </p:nvSpPr>
        <p:spPr>
          <a:xfrm>
            <a:off x="410705" y="13662553"/>
            <a:ext cx="10765295" cy="1569660"/>
          </a:xfrm>
          <a:prstGeom prst="rect">
            <a:avLst/>
          </a:prstGeom>
          <a:noFill/>
        </p:spPr>
        <p:txBody>
          <a:bodyPr wrap="square" rtlCol="0">
            <a:spAutoFit/>
          </a:bodyPr>
          <a:lstStyle/>
          <a:p>
            <a:r>
              <a:rPr lang="fr-CH" sz="1200" dirty="0">
                <a:latin typeface="Arial" panose="020B0604020202020204" pitchFamily="34" charset="0"/>
                <a:cs typeface="Arial" panose="020B0604020202020204" pitchFamily="34" charset="0"/>
              </a:rPr>
              <a:t>Auteur: Nathan </a:t>
            </a:r>
            <a:r>
              <a:rPr lang="fr-CH" sz="1200" dirty="0" err="1">
                <a:latin typeface="Arial" panose="020B0604020202020204" pitchFamily="34" charset="0"/>
                <a:cs typeface="Arial" panose="020B0604020202020204" pitchFamily="34" charset="0"/>
              </a:rPr>
              <a:t>Tschantz</a:t>
            </a:r>
            <a:endParaRPr lang="fr-CH" sz="1200" dirty="0">
              <a:latin typeface="Arial" panose="020B0604020202020204" pitchFamily="34" charset="0"/>
              <a:cs typeface="Arial" panose="020B0604020202020204" pitchFamily="34" charset="0"/>
            </a:endParaRPr>
          </a:p>
          <a:p>
            <a:r>
              <a:rPr lang="fr-CH" sz="1200" dirty="0">
                <a:latin typeface="Arial" panose="020B0604020202020204" pitchFamily="34" charset="0"/>
                <a:cs typeface="Arial" panose="020B0604020202020204" pitchFamily="34" charset="0"/>
              </a:rPr>
              <a:t>Répondant externe: </a:t>
            </a:r>
          </a:p>
          <a:p>
            <a:r>
              <a:rPr lang="fr-CH" sz="1200" dirty="0">
                <a:latin typeface="Arial" panose="020B0604020202020204" pitchFamily="34" charset="0"/>
                <a:cs typeface="Arial" panose="020B0604020202020204" pitchFamily="34" charset="0"/>
              </a:rPr>
              <a:t>Prof. responsable: Pierre </a:t>
            </a:r>
            <a:r>
              <a:rPr lang="fr-CH" sz="1200" dirty="0" err="1">
                <a:latin typeface="Arial" panose="020B0604020202020204" pitchFamily="34" charset="0"/>
                <a:cs typeface="Arial" panose="020B0604020202020204" pitchFamily="34" charset="0"/>
              </a:rPr>
              <a:t>Favrat</a:t>
            </a:r>
            <a:endParaRPr lang="fr-CH" sz="1200" dirty="0">
              <a:latin typeface="Arial" panose="020B0604020202020204" pitchFamily="34" charset="0"/>
              <a:cs typeface="Arial" panose="020B0604020202020204" pitchFamily="34" charset="0"/>
            </a:endParaRPr>
          </a:p>
          <a:p>
            <a:r>
              <a:rPr lang="fr-CH" sz="1200" dirty="0">
                <a:latin typeface="Arial" panose="020B0604020202020204" pitchFamily="34" charset="0"/>
                <a:cs typeface="Arial" panose="020B0604020202020204" pitchFamily="34" charset="0"/>
              </a:rPr>
              <a:t>Sujet proposé par: Pierre </a:t>
            </a:r>
            <a:r>
              <a:rPr lang="fr-CH" sz="1200" dirty="0" err="1">
                <a:latin typeface="Arial" panose="020B0604020202020204" pitchFamily="34" charset="0"/>
                <a:cs typeface="Arial" panose="020B0604020202020204" pitchFamily="34" charset="0"/>
              </a:rPr>
              <a:t>Favrat</a:t>
            </a:r>
            <a:endParaRPr lang="fr-CH" sz="1200" dirty="0">
              <a:latin typeface="Arial" panose="020B0604020202020204" pitchFamily="34" charset="0"/>
              <a:cs typeface="Arial" panose="020B0604020202020204" pitchFamily="34" charset="0"/>
            </a:endParaRPr>
          </a:p>
          <a:p>
            <a:endParaRPr lang="fr-CH" sz="1200" dirty="0">
              <a:latin typeface="Arial" panose="020B0604020202020204" pitchFamily="34" charset="0"/>
              <a:cs typeface="Arial" panose="020B0604020202020204" pitchFamily="34" charset="0"/>
            </a:endParaRPr>
          </a:p>
          <a:p>
            <a:r>
              <a:rPr lang="fr-FR" sz="1200" b="1" spc="-10" dirty="0">
                <a:latin typeface="Arial"/>
                <a:cs typeface="Arial"/>
              </a:rPr>
              <a:t>										     </a:t>
            </a:r>
          </a:p>
          <a:p>
            <a:r>
              <a:rPr lang="fr-FR" sz="1200" b="1" spc="-10" dirty="0">
                <a:latin typeface="Arial"/>
                <a:cs typeface="Arial"/>
              </a:rPr>
              <a:t>										    HEIG-</a:t>
            </a:r>
            <a:r>
              <a:rPr lang="fr-FR" sz="1200" b="1" dirty="0">
                <a:latin typeface="Arial"/>
                <a:cs typeface="Arial"/>
              </a:rPr>
              <a:t>VD</a:t>
            </a:r>
            <a:r>
              <a:rPr lang="fr-FR" sz="1200" b="1" spc="-20" dirty="0">
                <a:latin typeface="Arial"/>
                <a:cs typeface="Arial"/>
              </a:rPr>
              <a:t> </a:t>
            </a:r>
            <a:r>
              <a:rPr lang="fr-FR" sz="1200" b="1" dirty="0">
                <a:latin typeface="Arial"/>
                <a:cs typeface="Arial"/>
              </a:rPr>
              <a:t>©</a:t>
            </a:r>
            <a:r>
              <a:rPr lang="fr-FR" sz="1200" b="1" spc="-15" dirty="0">
                <a:latin typeface="Arial"/>
                <a:cs typeface="Arial"/>
              </a:rPr>
              <a:t> </a:t>
            </a:r>
            <a:r>
              <a:rPr lang="fr-FR" sz="1200" b="1" dirty="0">
                <a:latin typeface="Arial"/>
                <a:cs typeface="Arial"/>
              </a:rPr>
              <a:t>2025</a:t>
            </a:r>
            <a:r>
              <a:rPr lang="fr-FR" sz="1200" b="1" spc="215" dirty="0">
                <a:latin typeface="Arial"/>
                <a:cs typeface="Arial"/>
              </a:rPr>
              <a:t> </a:t>
            </a:r>
            <a:r>
              <a:rPr lang="fr-FR" sz="1200" b="1" dirty="0">
                <a:latin typeface="Arial"/>
                <a:cs typeface="Arial"/>
              </a:rPr>
              <a:t>filière</a:t>
            </a:r>
            <a:r>
              <a:rPr lang="fr-FR" sz="1200" b="1" spc="-15" dirty="0">
                <a:latin typeface="Arial"/>
                <a:cs typeface="Arial"/>
              </a:rPr>
              <a:t> </a:t>
            </a:r>
            <a:r>
              <a:rPr lang="fr-FR" sz="1200" b="1" dirty="0">
                <a:latin typeface="Arial"/>
                <a:cs typeface="Arial"/>
              </a:rPr>
              <a:t>Informatique</a:t>
            </a:r>
            <a:r>
              <a:rPr lang="fr-FR" sz="1200" b="1" spc="-20" dirty="0">
                <a:latin typeface="Arial"/>
                <a:cs typeface="Arial"/>
              </a:rPr>
              <a:t> </a:t>
            </a:r>
            <a:r>
              <a:rPr lang="fr-FR" sz="1200" b="1" dirty="0">
                <a:latin typeface="Arial"/>
                <a:cs typeface="Arial"/>
              </a:rPr>
              <a:t>et</a:t>
            </a:r>
            <a:r>
              <a:rPr lang="fr-FR" sz="1200" b="1" spc="-15" dirty="0">
                <a:latin typeface="Arial"/>
                <a:cs typeface="Arial"/>
              </a:rPr>
              <a:t> </a:t>
            </a:r>
            <a:r>
              <a:rPr lang="fr-FR" sz="1200" b="1" dirty="0">
                <a:latin typeface="Arial"/>
                <a:cs typeface="Arial"/>
              </a:rPr>
              <a:t>systèmes</a:t>
            </a:r>
            <a:r>
              <a:rPr lang="fr-FR" sz="1200" b="1" spc="-20" dirty="0">
                <a:latin typeface="Arial"/>
                <a:cs typeface="Arial"/>
              </a:rPr>
              <a:t> </a:t>
            </a:r>
            <a:r>
              <a:rPr lang="fr-FR" sz="1200" b="1" dirty="0">
                <a:latin typeface="Arial"/>
                <a:cs typeface="Arial"/>
              </a:rPr>
              <a:t>de</a:t>
            </a:r>
            <a:r>
              <a:rPr lang="fr-FR" sz="1200" b="1" spc="-15" dirty="0">
                <a:latin typeface="Arial"/>
                <a:cs typeface="Arial"/>
              </a:rPr>
              <a:t> </a:t>
            </a:r>
            <a:r>
              <a:rPr lang="fr-FR" sz="1200" b="1" spc="-10" dirty="0">
                <a:latin typeface="Arial"/>
                <a:cs typeface="Arial"/>
              </a:rPr>
              <a:t>communication</a:t>
            </a:r>
            <a:endParaRPr lang="fr-FR" sz="1200" dirty="0">
              <a:latin typeface="Arial"/>
              <a:cs typeface="Arial"/>
            </a:endParaRPr>
          </a:p>
          <a:p>
            <a:endParaRPr lang="fr-FR" sz="1200" dirty="0">
              <a:latin typeface="Arial" panose="020B0604020202020204" pitchFamily="34" charset="0"/>
              <a:cs typeface="Arial" panose="020B0604020202020204" pitchFamily="34" charset="0"/>
            </a:endParaRPr>
          </a:p>
        </p:txBody>
      </p:sp>
      <p:pic>
        <p:nvPicPr>
          <p:cNvPr id="11" name="object 13">
            <a:extLst>
              <a:ext uri="{FF2B5EF4-FFF2-40B4-BE49-F238E27FC236}">
                <a16:creationId xmlns:a16="http://schemas.microsoft.com/office/drawing/2014/main" id="{A6E325AD-3E75-E389-E526-9328D2EAF8EA}"/>
              </a:ext>
            </a:extLst>
          </p:cNvPr>
          <p:cNvPicPr/>
          <p:nvPr/>
        </p:nvPicPr>
        <p:blipFill>
          <a:blip r:embed="rId3" cstate="print"/>
          <a:stretch>
            <a:fillRect/>
          </a:stretch>
        </p:blipFill>
        <p:spPr>
          <a:xfrm>
            <a:off x="8978145" y="13900829"/>
            <a:ext cx="1131178" cy="492939"/>
          </a:xfrm>
          <a:prstGeom prst="rect">
            <a:avLst/>
          </a:prstGeom>
        </p:spPr>
      </p:pic>
      <p:pic>
        <p:nvPicPr>
          <p:cNvPr id="14" name="Image 13" descr="Une image contenant Police, symbole, Graphique, logo&#10;&#10;Le contenu généré par l’IA peut être incorrect.">
            <a:extLst>
              <a:ext uri="{FF2B5EF4-FFF2-40B4-BE49-F238E27FC236}">
                <a16:creationId xmlns:a16="http://schemas.microsoft.com/office/drawing/2014/main" id="{1BC9B767-2F7F-3EDB-CF8A-32E6ABE3B2E4}"/>
              </a:ext>
            </a:extLst>
          </p:cNvPr>
          <p:cNvPicPr>
            <a:picLocks noChangeAspect="1"/>
          </p:cNvPicPr>
          <p:nvPr/>
        </p:nvPicPr>
        <p:blipFill>
          <a:blip r:embed="rId4"/>
          <a:stretch>
            <a:fillRect/>
          </a:stretch>
        </p:blipFill>
        <p:spPr>
          <a:xfrm>
            <a:off x="498810" y="471311"/>
            <a:ext cx="1417561" cy="1061593"/>
          </a:xfrm>
          <a:prstGeom prst="rect">
            <a:avLst/>
          </a:prstGeom>
        </p:spPr>
      </p:pic>
      <p:pic>
        <p:nvPicPr>
          <p:cNvPr id="3" name="Image 2">
            <a:extLst>
              <a:ext uri="{FF2B5EF4-FFF2-40B4-BE49-F238E27FC236}">
                <a16:creationId xmlns:a16="http://schemas.microsoft.com/office/drawing/2014/main" id="{65A50996-681B-B3AC-BA6C-13D01019B105}"/>
              </a:ext>
            </a:extLst>
          </p:cNvPr>
          <p:cNvPicPr>
            <a:picLocks noChangeAspect="1"/>
          </p:cNvPicPr>
          <p:nvPr/>
        </p:nvPicPr>
        <p:blipFill>
          <a:blip r:embed="rId5"/>
          <a:stretch>
            <a:fillRect/>
          </a:stretch>
        </p:blipFill>
        <p:spPr>
          <a:xfrm>
            <a:off x="2158801" y="10341317"/>
            <a:ext cx="6119265" cy="3671559"/>
          </a:xfrm>
          <a:prstGeom prst="rect">
            <a:avLst/>
          </a:prstGeom>
        </p:spPr>
      </p:pic>
      <p:pic>
        <p:nvPicPr>
          <p:cNvPr id="6" name="Image 5">
            <a:extLst>
              <a:ext uri="{FF2B5EF4-FFF2-40B4-BE49-F238E27FC236}">
                <a16:creationId xmlns:a16="http://schemas.microsoft.com/office/drawing/2014/main" id="{8489C005-B1B7-366E-ABE1-480BA577381E}"/>
              </a:ext>
            </a:extLst>
          </p:cNvPr>
          <p:cNvPicPr>
            <a:picLocks noChangeAspect="1"/>
          </p:cNvPicPr>
          <p:nvPr/>
        </p:nvPicPr>
        <p:blipFill>
          <a:blip r:embed="rId6"/>
          <a:stretch>
            <a:fillRect/>
          </a:stretch>
        </p:blipFill>
        <p:spPr>
          <a:xfrm>
            <a:off x="575812" y="9453313"/>
            <a:ext cx="9705296" cy="888004"/>
          </a:xfrm>
          <a:prstGeom prst="rect">
            <a:avLst/>
          </a:prstGeom>
        </p:spPr>
      </p:pic>
    </p:spTree>
    <p:extLst>
      <p:ext uri="{BB962C8B-B14F-4D97-AF65-F5344CB8AC3E}">
        <p14:creationId xmlns:p14="http://schemas.microsoft.com/office/powerpoint/2010/main" val="72220572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C62DBA19A99D043AFB3CC20C3C2E670" ma:contentTypeVersion="10" ma:contentTypeDescription="Crée un document." ma:contentTypeScope="" ma:versionID="b55a8119373ecb0daa87d7ce8a8ccc55">
  <xsd:schema xmlns:xsd="http://www.w3.org/2001/XMLSchema" xmlns:xs="http://www.w3.org/2001/XMLSchema" xmlns:p="http://schemas.microsoft.com/office/2006/metadata/properties" xmlns:ns1="http://schemas.microsoft.com/sharepoint/v3" targetNamespace="http://schemas.microsoft.com/office/2006/metadata/properties" ma:root="true" ma:fieldsID="7bbd885964a573671ecd10de83595bc4"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4" nillable="true" ma:displayName="Date de début de planification" ma:description="" ma:internalName="PublishingStartDate">
      <xsd:simpleType>
        <xsd:restriction base="dms:Unknown"/>
      </xsd:simpleType>
    </xsd:element>
    <xsd:element name="PublishingExpirationDate" ma:index="5" nillable="true" ma:displayName="Date de fin de planification" ma:description=""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Type de contenu" ma:readOnly="true"/>
        <xsd:element ref="dc:title" minOccurs="0" maxOccurs="1" ma:index="3"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925618-3156-4746-8B68-5C33F2AB0FD4}">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04904543-D12C-45EA-8310-FF15BB5BF9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AAD471-60E3-4269-8F77-1FB8D65951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506</Words>
  <Application>Microsoft Office PowerPoint</Application>
  <PresentationFormat>Personnalisé</PresentationFormat>
  <Paragraphs>24</Paragraphs>
  <Slides>1</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Aptos</vt:lpstr>
      <vt:lpstr>Aptos Display</vt:lpstr>
      <vt:lpstr>Arial</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Grünig Naomy</dc:creator>
  <cp:lastModifiedBy>Nathan TSCHANTZ</cp:lastModifiedBy>
  <cp:revision>13</cp:revision>
  <dcterms:created xsi:type="dcterms:W3CDTF">2025-01-21T07:50:37Z</dcterms:created>
  <dcterms:modified xsi:type="dcterms:W3CDTF">2026-07-20T13:21:01Z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0x010100EC62DBA19A99D043AFB3CC20C3C2E670</vt:lpwstr>
  </property>
</Properties>
</file>